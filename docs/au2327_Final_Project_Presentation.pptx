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8ksayZAYimkh8h9iygfg1gngxNKfAKIL/view" TargetMode="External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A0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132320" y="0"/>
            <a:ext cx="2011680" cy="73152"/>
          </a:xfrm>
          <a:prstGeom prst="rect">
            <a:avLst/>
          </a:prstGeom>
          <a:solidFill>
            <a:srgbClr val="E8C4A0"/>
          </a:solidFill>
          <a:ln cap="flat" cmpd="sng" w="12700">
            <a:solidFill>
              <a:srgbClr val="E8C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034272" y="0"/>
            <a:ext cx="109728" cy="1645920"/>
          </a:xfrm>
          <a:prstGeom prst="rect">
            <a:avLst/>
          </a:prstGeom>
          <a:solidFill>
            <a:srgbClr val="E8C4A0"/>
          </a:solidFill>
          <a:ln cap="flat" cmpd="sng" w="12700">
            <a:solidFill>
              <a:srgbClr val="E8C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725832"/>
            <a:ext cx="2691900" cy="9384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7500" y="849864"/>
            <a:ext cx="25113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</a:t>
            </a:r>
            <a:r>
              <a:rPr b="1" lang="en-US" sz="1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r>
              <a:rPr b="1" i="0" lang="en-US" sz="1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PROJECT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874520"/>
            <a:ext cx="7772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Multimodal Visual Search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578608"/>
            <a:ext cx="7772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E8C4A0"/>
                </a:solidFill>
                <a:latin typeface="Cambria"/>
                <a:ea typeface="Cambria"/>
                <a:cs typeface="Cambria"/>
                <a:sym typeface="Cambria"/>
              </a:rPr>
              <a:t>for Product Catalogs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401568"/>
            <a:ext cx="3200400" cy="36576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A88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4A882"/>
                </a:solidFill>
                <a:latin typeface="Calibri"/>
                <a:ea typeface="Calibri"/>
                <a:cs typeface="Calibri"/>
                <a:sym typeface="Calibri"/>
              </a:rPr>
              <a:t>Aman Upganlawar  |  au2327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39136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8060"/>
              </a:buClr>
              <a:buSzPts val="1200"/>
              <a:buFont typeface="Calibri"/>
              <a:buNone/>
            </a:pPr>
            <a:r>
              <a:rPr b="0" i="1" lang="en-US" sz="1500" u="none" cap="none" strike="noStrike">
                <a:solidFill>
                  <a:srgbClr val="A08060"/>
                </a:solidFill>
                <a:latin typeface="Calibri"/>
                <a:ea typeface="Calibri"/>
                <a:cs typeface="Calibri"/>
                <a:sym typeface="Calibri"/>
              </a:rPr>
              <a:t>Advanced Big Data and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1148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11480" y="497433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FAF6F1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10515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146304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E-commerce catalogs are broken.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 Retailers have hundreds of thousands of product images but search is still keyword-only. Customers ask questions like "show me a waterproof jacket similar to this one" or "which sofa comes in blue?" and get zero useful results.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b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The cost: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Lost sales, frustrated shoppers, and ops teams manually tagging inventory at scale.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63440" y="960120"/>
            <a:ext cx="411480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63440" y="960120"/>
            <a:ext cx="54864" cy="9601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800600" y="10515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Keyword search ignores visuals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800600" y="134416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Product attributes embedded in images are completely invisible to search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663440" y="2075688"/>
            <a:ext cx="411480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663440" y="2075688"/>
            <a:ext cx="54864" cy="9601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800600" y="216712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Manual tagging doesn't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800600" y="2459736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Labeling 100k+ SKUs by hand is slow, expensive, and inconsistent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663440" y="3191256"/>
            <a:ext cx="411480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663440" y="3191256"/>
            <a:ext cx="54864" cy="9601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800600" y="32826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No grounded answers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00600" y="3575304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100"/>
              <a:buFont typeface="Calibri"/>
              <a:buNone/>
            </a:pPr>
            <a:r>
              <a:rPr b="0" i="0" lang="en-US" sz="14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Shoppers need answers, not just a list of images to sift through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1148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Solution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11480" y="497433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65760" y="80467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250"/>
              <a:buFont typeface="Calibri"/>
              <a:buNone/>
            </a:pPr>
            <a:r>
              <a:rPr b="0" i="1" lang="en-US" sz="165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A multimodal visual search engine for product catalogs users query a retailer's image inventory with natural language or a reference image, and get grounded answers powered by CLIP retrieval and a VLM re-ranking layer.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1508760"/>
            <a:ext cx="1965960" cy="3108960"/>
          </a:xfrm>
          <a:prstGeom prst="rect">
            <a:avLst/>
          </a:prstGeom>
          <a:solidFill>
            <a:srgbClr val="FAF6F1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65760" y="1508760"/>
            <a:ext cx="1965960" cy="5029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15087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75488" y="21031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Catalog Ingestion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75488" y="265176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Ingest product images, extract CLIP visual embeddings per SKU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331720" y="2651760"/>
            <a:ext cx="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514600" y="1508760"/>
            <a:ext cx="1965960" cy="3108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514600" y="1508760"/>
            <a:ext cx="1965960" cy="502920"/>
          </a:xfrm>
          <a:prstGeom prst="rect">
            <a:avLst/>
          </a:prstGeom>
          <a:solidFill>
            <a:srgbClr val="4A2E1A"/>
          </a:solidFill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514600" y="15087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8C4A0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624328" y="21031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Vector Index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624328" y="265176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Store embeddings in FAISS/Chroma; metadata in SQLite for filtering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480560" y="2651760"/>
            <a:ext cx="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63440" y="1508760"/>
            <a:ext cx="1965960" cy="3108960"/>
          </a:xfrm>
          <a:prstGeom prst="rect">
            <a:avLst/>
          </a:prstGeom>
          <a:solidFill>
            <a:srgbClr val="FAF6F1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663440" y="1508760"/>
            <a:ext cx="1965960" cy="502920"/>
          </a:xfrm>
          <a:prstGeom prst="rect">
            <a:avLst/>
          </a:prstGeom>
          <a:solidFill>
            <a:srgbClr val="4A2E1A"/>
          </a:solidFill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663440" y="15087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8C4A0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773168" y="21031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Query &amp; Retrieve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773168" y="265176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NL or image query encoded → top-K visually similar products retrieved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629400" y="2651760"/>
            <a:ext cx="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812280" y="1508760"/>
            <a:ext cx="1965960" cy="3108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812280" y="1508760"/>
            <a:ext cx="1965960" cy="502920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812280" y="15087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8C4A0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922008" y="210312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VLM Re-rank &amp; Answer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922008" y="2651760"/>
            <a:ext cx="1737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GPT-4V scores top-K results, re-ranks, and returns a grounded answer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1148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11480" y="497433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65760" y="868680"/>
            <a:ext cx="8412480" cy="1783080"/>
          </a:xfrm>
          <a:prstGeom prst="rect">
            <a:avLst/>
          </a:prstGeom>
          <a:solidFill>
            <a:srgbClr val="F5EDE8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57200" y="9144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50"/>
              <a:buFont typeface="Calibri"/>
              <a:buNone/>
            </a:pPr>
            <a:r>
              <a:rPr b="1" i="0" lang="en-US" sz="15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Indexing Pipeline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365760" y="2880360"/>
            <a:ext cx="8412480" cy="1783080"/>
          </a:xfrm>
          <a:prstGeom prst="rect">
            <a:avLst/>
          </a:prstGeom>
          <a:solidFill>
            <a:srgbClr val="FAF6F1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292608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950"/>
              <a:buFont typeface="Calibri"/>
              <a:buNone/>
            </a:pPr>
            <a:r>
              <a:rPr b="1" i="0" lang="en-US" sz="14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Query Pipeline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94360" y="1207008"/>
            <a:ext cx="16002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94360" y="1207008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Image Upload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2194560" y="1618488"/>
            <a:ext cx="411480" cy="0"/>
          </a:xfrm>
          <a:prstGeom prst="straightConnector1">
            <a:avLst/>
          </a:prstGeom>
          <a:noFill/>
          <a:ln cap="flat" cmpd="sng" w="152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2606040" y="1207008"/>
            <a:ext cx="16002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606040" y="1207008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CLIP / LLaVA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6"/>
          <p:cNvCxnSpPr/>
          <p:nvPr/>
        </p:nvCxnSpPr>
        <p:spPr>
          <a:xfrm>
            <a:off x="4206240" y="1618488"/>
            <a:ext cx="411480" cy="0"/>
          </a:xfrm>
          <a:prstGeom prst="straightConnector1">
            <a:avLst/>
          </a:prstGeom>
          <a:noFill/>
          <a:ln cap="flat" cmpd="sng" w="152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6"/>
          <p:cNvSpPr/>
          <p:nvPr/>
        </p:nvSpPr>
        <p:spPr>
          <a:xfrm>
            <a:off x="4617720" y="1207008"/>
            <a:ext cx="16002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617720" y="1207008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(FAISS/Chroma)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6217920" y="1618488"/>
            <a:ext cx="411480" cy="0"/>
          </a:xfrm>
          <a:prstGeom prst="straightConnector1">
            <a:avLst/>
          </a:prstGeom>
          <a:noFill/>
          <a:ln cap="flat" cmpd="sng" w="152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6"/>
          <p:cNvSpPr/>
          <p:nvPr/>
        </p:nvSpPr>
        <p:spPr>
          <a:xfrm>
            <a:off x="6629400" y="1207008"/>
            <a:ext cx="1600200" cy="82296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629400" y="1207008"/>
            <a:ext cx="1600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3218688"/>
            <a:ext cx="14630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3218688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NL Query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6"/>
          <p:cNvCxnSpPr/>
          <p:nvPr/>
        </p:nvCxnSpPr>
        <p:spPr>
          <a:xfrm>
            <a:off x="1920240" y="3630168"/>
            <a:ext cx="201168" cy="0"/>
          </a:xfrm>
          <a:prstGeom prst="straightConnector1">
            <a:avLst/>
          </a:prstGeom>
          <a:noFill/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6"/>
          <p:cNvSpPr/>
          <p:nvPr/>
        </p:nvSpPr>
        <p:spPr>
          <a:xfrm>
            <a:off x="2121408" y="3218688"/>
            <a:ext cx="14630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121408" y="3218688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6"/>
          <p:cNvCxnSpPr/>
          <p:nvPr/>
        </p:nvCxnSpPr>
        <p:spPr>
          <a:xfrm>
            <a:off x="3584448" y="3630168"/>
            <a:ext cx="201168" cy="0"/>
          </a:xfrm>
          <a:prstGeom prst="straightConnector1">
            <a:avLst/>
          </a:prstGeom>
          <a:noFill/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6"/>
          <p:cNvSpPr/>
          <p:nvPr/>
        </p:nvSpPr>
        <p:spPr>
          <a:xfrm>
            <a:off x="3785616" y="3218688"/>
            <a:ext cx="14630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785616" y="3218688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Top-K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6"/>
          <p:cNvCxnSpPr/>
          <p:nvPr/>
        </p:nvCxnSpPr>
        <p:spPr>
          <a:xfrm>
            <a:off x="5248656" y="3630168"/>
            <a:ext cx="201168" cy="0"/>
          </a:xfrm>
          <a:prstGeom prst="straightConnector1">
            <a:avLst/>
          </a:prstGeom>
          <a:noFill/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6"/>
          <p:cNvSpPr/>
          <p:nvPr/>
        </p:nvSpPr>
        <p:spPr>
          <a:xfrm>
            <a:off x="5449824" y="3218688"/>
            <a:ext cx="14630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49824" y="3218688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VLM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(GPT-4V)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6912864" y="3630168"/>
            <a:ext cx="201168" cy="0"/>
          </a:xfrm>
          <a:prstGeom prst="straightConnector1">
            <a:avLst/>
          </a:prstGeom>
          <a:noFill/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6"/>
          <p:cNvSpPr/>
          <p:nvPr/>
        </p:nvSpPr>
        <p:spPr>
          <a:xfrm>
            <a:off x="7114032" y="3218688"/>
            <a:ext cx="1463040" cy="82296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114032" y="3218688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4343400" y="2029968"/>
            <a:ext cx="0" cy="1188720"/>
          </a:xfrm>
          <a:prstGeom prst="straightConnector1">
            <a:avLst/>
          </a:prstGeom>
          <a:noFill/>
          <a:ln cap="flat" cmpd="sng" w="12700">
            <a:solidFill>
              <a:srgbClr val="B8504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5" name="Google Shape;125;p6"/>
          <p:cNvSpPr/>
          <p:nvPr/>
        </p:nvSpPr>
        <p:spPr>
          <a:xfrm>
            <a:off x="4407408" y="242316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800"/>
              <a:buFont typeface="Calibri"/>
              <a:buNone/>
            </a:pPr>
            <a:r>
              <a:rPr b="0" i="1" lang="en-US" sz="14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retrieves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1148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Technology Stack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11480" y="497433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65760" y="868680"/>
            <a:ext cx="39319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65760" y="868680"/>
            <a:ext cx="3931920" cy="41148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02920" y="8686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02920" y="1325880"/>
            <a:ext cx="3657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GPT-4V / LLaVA (VLM)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CLIP (vision encoder)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Sentence-Transformers (text encoder)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709160" y="868680"/>
            <a:ext cx="39319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709160" y="868680"/>
            <a:ext cx="3931920" cy="411480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846320" y="8686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846320" y="1325880"/>
            <a:ext cx="3657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FAISS / ChromaDB (vector store)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SQLite (metadata)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HuggingFace Datasets (eval)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5760" y="2880360"/>
            <a:ext cx="39319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65760" y="2880360"/>
            <a:ext cx="3931920" cy="411480"/>
          </a:xfrm>
          <a:prstGeom prst="rect">
            <a:avLst/>
          </a:prstGeom>
          <a:solidFill>
            <a:srgbClr val="5C3D2E"/>
          </a:solidFill>
          <a:ln cap="flat" cmpd="sng" w="12700">
            <a:solidFill>
              <a:srgbClr val="5C3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02920" y="28803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2920" y="3337560"/>
            <a:ext cx="3657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Python 3.11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LangChain (orchestration)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709160" y="2880360"/>
            <a:ext cx="393192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709160" y="2880360"/>
            <a:ext cx="3931920" cy="411480"/>
          </a:xfrm>
          <a:prstGeom prst="rect">
            <a:avLst/>
          </a:prstGeom>
          <a:solidFill>
            <a:srgbClr val="7A5C4A"/>
          </a:solidFill>
          <a:ln cap="flat" cmpd="sng" w="12700">
            <a:solidFill>
              <a:srgbClr val="7A5C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846320" y="28803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/ Eval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846320" y="3337560"/>
            <a:ext cx="3657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Streamlit (demo UI)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BLEU / F1 / Recall@K metrics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Latency profiling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11480" y="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Plan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11480" y="497433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5760" y="868680"/>
            <a:ext cx="4023360" cy="3840480"/>
          </a:xfrm>
          <a:prstGeom prst="rect">
            <a:avLst/>
          </a:prstGeom>
          <a:solidFill>
            <a:srgbClr val="FAF6F1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100584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02920" y="1417320"/>
            <a:ext cx="54864" cy="5029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85800" y="1426464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Recall@K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685800" y="1696215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Are the right images retrieved in top-K results?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502920" y="2194560"/>
            <a:ext cx="54864" cy="5029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85800" y="2203704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Answer F1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85800" y="2537167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Token overlap between predicted and ground truth answers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02920" y="2971800"/>
            <a:ext cx="54864" cy="5029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85800" y="2980944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Latency (p50/p95)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85800" y="32278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End-to-end query response time at scale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02920" y="3749040"/>
            <a:ext cx="54864" cy="50292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85800" y="3758184"/>
            <a:ext cx="34747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Embedding ablation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85800" y="4050197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1050"/>
              <a:buFont typeface="Calibri"/>
              <a:buNone/>
            </a:pPr>
            <a:r>
              <a:rPr b="0" i="0" lang="en-US" sz="145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CLIP vs LLaVA embeddings, evaluate which retrieves better?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663440" y="868680"/>
            <a:ext cx="4114800" cy="1737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663440" y="868680"/>
            <a:ext cx="4114800" cy="402336"/>
          </a:xfrm>
          <a:prstGeom prst="rect">
            <a:avLst/>
          </a:prstGeom>
          <a:solidFill>
            <a:srgbClr val="2C1A0E"/>
          </a:solidFill>
          <a:ln cap="flat" cmpd="sng" w="12700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800600" y="86868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800600" y="1353312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VQAv2 subset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~500–1,000 image-question pairs for 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Custom domain set (100 images + 10 Q each)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663440" y="2788920"/>
            <a:ext cx="411480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663440" y="2788920"/>
            <a:ext cx="4114800" cy="402336"/>
          </a:xfrm>
          <a:prstGeom prst="rect">
            <a:avLst/>
          </a:prstGeom>
          <a:solidFill>
            <a:srgbClr val="4A2E1A"/>
          </a:solidFill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800600" y="2788920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800600" y="3273552"/>
            <a:ext cx="38404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Keyword metadata search (no embeddings)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Direct VLM query (no retrieval step)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A0E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Our full pipeline: retrieval + VLM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A0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This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65760" y="9601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8C4A0"/>
                </a:solidFill>
                <a:latin typeface="Cambria"/>
                <a:ea typeface="Cambria"/>
                <a:cs typeface="Cambria"/>
                <a:sym typeface="Cambria"/>
              </a:rPr>
              <a:t>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65760" y="1572768"/>
            <a:ext cx="2743200" cy="36576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65760" y="1737360"/>
            <a:ext cx="1005840" cy="530352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65760" y="1737360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Users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508760" y="1810512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BFA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D4BFA8"/>
                </a:solidFill>
                <a:latin typeface="Calibri"/>
                <a:ea typeface="Calibri"/>
                <a:cs typeface="Calibri"/>
                <a:sym typeface="Calibri"/>
              </a:rPr>
              <a:t>Shoppers and catalog ops teams at every e-commerce company face this problem today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65760" y="2395728"/>
            <a:ext cx="1005840" cy="530352"/>
          </a:xfrm>
          <a:prstGeom prst="rect">
            <a:avLst/>
          </a:prstGeom>
          <a:solidFill>
            <a:srgbClr val="4A2E1A"/>
          </a:solidFill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65760" y="2395728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Real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508760" y="2468880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BFA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D4BFA8"/>
                </a:solidFill>
                <a:latin typeface="Calibri"/>
                <a:ea typeface="Calibri"/>
                <a:cs typeface="Calibri"/>
                <a:sym typeface="Calibri"/>
              </a:rPr>
              <a:t>Amazon, Shopify, Pinterest all run versions of this, it's a proven, high-value problem space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65760" y="3054096"/>
            <a:ext cx="1005840" cy="530352"/>
          </a:xfrm>
          <a:prstGeom prst="rect">
            <a:avLst/>
          </a:prstGeom>
          <a:solidFill>
            <a:srgbClr val="4A2E1A"/>
          </a:solidFill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5760" y="3054096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Re-ranking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508760" y="3127248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BFA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D4BFA8"/>
                </a:solidFill>
                <a:latin typeface="Calibri"/>
                <a:ea typeface="Calibri"/>
                <a:cs typeface="Calibri"/>
                <a:sym typeface="Calibri"/>
              </a:rPr>
              <a:t>The VLM re-ranking layer is a production technique that goes beyond standard RAG demos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65760" y="3712464"/>
            <a:ext cx="1005840" cy="530352"/>
          </a:xfrm>
          <a:prstGeom prst="rect">
            <a:avLst/>
          </a:prstGeom>
          <a:solidFill>
            <a:srgbClr val="4A2E1A"/>
          </a:solidFill>
          <a:ln cap="flat" cmpd="sng" w="12700">
            <a:solidFill>
              <a:srgbClr val="4A2E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65760" y="3712464"/>
            <a:ext cx="1005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C4A0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508760" y="3785616"/>
            <a:ext cx="7132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BFA8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D4BFA8"/>
                </a:solidFill>
                <a:latin typeface="Calibri"/>
                <a:ea typeface="Calibri"/>
                <a:cs typeface="Calibri"/>
                <a:sym typeface="Calibri"/>
              </a:rPr>
              <a:t>Amazon Berkeley Objects and IKEA catalog provide a concrete, public benchmark to evaluate against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65760" y="48006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7B6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Aman Upganlawar  |  au2327  |  EECS 6895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9525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365755" y="104250"/>
            <a:ext cx="7772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95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411480" y="497433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365760" y="777240"/>
            <a:ext cx="8412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n = 150 questions  |  2,711 distractors  |  CLIP ViT-B/32 + FAISS  |  GPT-4o re-rank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65760" y="1143000"/>
            <a:ext cx="8412480" cy="384048"/>
          </a:xfrm>
          <a:prstGeom prst="rect">
            <a:avLst/>
          </a:prstGeom>
          <a:solidFill>
            <a:srgbClr val="B85042"/>
          </a:solidFill>
          <a:ln cap="flat" cmpd="sng" w="95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365760" y="1143000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3108960" y="1143000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R@1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3931920" y="1143000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R@3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4754880" y="1143000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R@5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5577840" y="1143000"/>
            <a:ext cx="118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F1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6766560" y="1143000"/>
            <a:ext cx="201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latency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65760" y="1527048"/>
            <a:ext cx="8412480" cy="384048"/>
          </a:xfrm>
          <a:prstGeom prst="rect">
            <a:avLst/>
          </a:prstGeom>
          <a:solidFill>
            <a:srgbClr val="FAF6F1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457200" y="1527048"/>
            <a:ext cx="265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A — image + FAISS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3108960" y="1527048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0.113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3931920" y="1527048"/>
            <a:ext cx="822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0.207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4754880" y="1527048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0.253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5577840" y="1527048"/>
            <a:ext cx="118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0.424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6766560" y="1527048"/>
            <a:ext cx="2011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58 ms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65760" y="1911096"/>
            <a:ext cx="84124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457200" y="1911096"/>
            <a:ext cx="265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B — text + FAISS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3108960" y="1911096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0.173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3931920" y="1911096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0.327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4754880" y="1911096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0.400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 txBox="1"/>
          <p:nvPr/>
        </p:nvSpPr>
        <p:spPr>
          <a:xfrm>
            <a:off x="5577840" y="1911096"/>
            <a:ext cx="118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0.373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6766560" y="1911096"/>
            <a:ext cx="2011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1.07 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65760" y="2295144"/>
            <a:ext cx="8412480" cy="384048"/>
          </a:xfrm>
          <a:prstGeom prst="rect">
            <a:avLst/>
          </a:prstGeom>
          <a:solidFill>
            <a:srgbClr val="FDF4E8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457200" y="2295144"/>
            <a:ext cx="265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C — image + FAISS + GPT-4o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3108960" y="2295144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0.233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3931920" y="2295144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0.253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4754880" y="2295144"/>
            <a:ext cx="822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0.253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5577840" y="2295144"/>
            <a:ext cx="118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0.430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6766560" y="2295144"/>
            <a:ext cx="201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4.43 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365760" y="2697480"/>
            <a:ext cx="841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THREE FINDINGS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65760" y="3017520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868680" y="3037520"/>
            <a:ext cx="78639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GPT-4o re-rank doubles top-1 accuracy  </a:t>
            </a: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0.113 → 0.233 (+12 pp). Caps at config A's R@5</a:t>
            </a:r>
            <a:r>
              <a:rPr lang="en-US" sz="1500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 re-rank can't recover items the retriever missed.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65760" y="3493008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868680" y="3513008"/>
            <a:ext cx="78639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Text retrieval (B) wins on raw recall  </a:t>
            </a: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Eval questions were drafted from product text</a:t>
            </a:r>
            <a:r>
              <a:rPr lang="en-US" sz="1500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 known bias in the benchmark.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65760" y="3968496"/>
            <a:ext cx="365760" cy="36576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868680" y="3988496"/>
            <a:ext cx="786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Latency is the cost of re-rank  </a:t>
            </a:r>
            <a:r>
              <a:rPr b="0" i="0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76× slower than CLIP-only, still acceptable for an interactive demo.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365760" y="4494830"/>
            <a:ext cx="841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Note on Answer F1: </a:t>
            </a:r>
            <a:r>
              <a:rPr b="0" i="1" lang="en-US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token-overlap penalises paraphrase</a:t>
            </a:r>
            <a:r>
              <a:rPr i="1" lang="en-US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1" lang="en-US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 GPT-4o writes full sentences, ground truths are terse product strings, so F1 saturates ~0.43 across all configs (a metric ceiling, not a system failure).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9525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321235" y="126700"/>
            <a:ext cx="777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Baselines vs </a:t>
            </a: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95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411480" y="4974336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365760" y="777240"/>
            <a:ext cx="841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8C7B6B"/>
                </a:solidFill>
                <a:latin typeface="Calibri"/>
                <a:ea typeface="Calibri"/>
                <a:cs typeface="Calibri"/>
                <a:sym typeface="Calibri"/>
              </a:rPr>
              <a:t>Same 150 questions, same 2,711-product catalog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760720" y="1143000"/>
            <a:ext cx="3017520" cy="3246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DE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760720" y="1143000"/>
            <a:ext cx="54864" cy="3246120"/>
          </a:xfrm>
          <a:prstGeom prst="rect">
            <a:avLst/>
          </a:prstGeom>
          <a:solidFill>
            <a:srgbClr val="E8C4A0"/>
          </a:solidFill>
          <a:ln cap="flat" cmpd="sng" w="9525">
            <a:solidFill>
              <a:srgbClr val="E8C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5943600" y="1280160"/>
            <a:ext cx="274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35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TAKE-AWAYS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5943600" y="1600200"/>
            <a:ext cx="27432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vs CLIP-only baseline </a:t>
            </a:r>
            <a:r>
              <a:rPr b="0" i="0" lang="en-US" sz="13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→ +12 pp R@1, ~2× lift; re-rank moves the right answer to the top.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C1A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vs text retrieval </a:t>
            </a:r>
            <a:r>
              <a:rPr b="0" i="0" lang="en-US" sz="13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→ text wins R@5 (eval-set bias), but ours wins R@1 by +6 pp.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2C1A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R@5 cap </a:t>
            </a:r>
            <a:r>
              <a:rPr b="0" i="0" lang="en-US" sz="1300" u="none" cap="none" strike="noStrike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→ re-rank is precision, not recall. Future work: better first-stage retriever.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solidFill>
            <a:srgbClr val="2C1A0E"/>
          </a:solidFill>
          <a:ln cap="flat" cmpd="sng" w="9525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BOTTOM LINE   </a:t>
            </a:r>
            <a:r>
              <a:rPr b="0" i="1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you only get to show one product, ours is best.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selines_chart.png" id="268" name="Google Shape;2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43000"/>
            <a:ext cx="5212080" cy="3246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F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1A0E"/>
          </a:solidFill>
          <a:ln cap="flat" cmpd="sng" w="9525">
            <a:solidFill>
              <a:srgbClr val="2C1A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365755" y="11205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Demo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8229600" y="0"/>
            <a:ext cx="73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0" y="4983480"/>
            <a:ext cx="9144000" cy="159900"/>
          </a:xfrm>
          <a:prstGeom prst="rect">
            <a:avLst/>
          </a:prstGeom>
          <a:solidFill>
            <a:srgbClr val="B85042"/>
          </a:solidFill>
          <a:ln cap="flat" cmpd="sng" w="95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411480" y="4974336"/>
            <a:ext cx="822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EECS 6895  |  Aman Upganlawar  |  au2327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 txBox="1"/>
          <p:nvPr/>
        </p:nvSpPr>
        <p:spPr>
          <a:xfrm>
            <a:off x="5943600" y="960120"/>
            <a:ext cx="283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DEMO FLOW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943600" y="1280160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6400800" y="1265160"/>
            <a:ext cx="23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Query 1: “a navy velvet tufted sectional sofa”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943600" y="2057400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6400800" y="2042400"/>
            <a:ext cx="2377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Query 2: “a high back executive office chair in black leather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943600" y="2834640"/>
            <a:ext cx="320100" cy="32010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6411005" y="2819640"/>
            <a:ext cx="237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2C1A0E"/>
                </a:solidFill>
                <a:latin typeface="Calibri"/>
                <a:ea typeface="Calibri"/>
                <a:cs typeface="Calibri"/>
                <a:sym typeface="Calibri"/>
              </a:rPr>
              <a:t>Image Query 1:  Image of a blue sofa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2" title="Screen Recording 2026-04-28 190946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75" y="838200"/>
            <a:ext cx="5718024" cy="389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1A0E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 cap="flat" cmpd="sng" w="95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132320" y="0"/>
            <a:ext cx="2011680" cy="73152"/>
          </a:xfrm>
          <a:prstGeom prst="rect">
            <a:avLst/>
          </a:prstGeom>
          <a:solidFill>
            <a:srgbClr val="E8C4A0"/>
          </a:solidFill>
          <a:ln cap="flat" cmpd="sng" w="9525">
            <a:solidFill>
              <a:srgbClr val="E8C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85042"/>
          </a:solidFill>
          <a:ln cap="flat" cmpd="sng" w="9525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502920" y="365760"/>
            <a:ext cx="82296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31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02920" y="1554480"/>
            <a:ext cx="8229600" cy="868680"/>
          </a:xfrm>
          <a:prstGeom prst="rect">
            <a:avLst/>
          </a:prstGeom>
          <a:solidFill>
            <a:srgbClr val="3D281A"/>
          </a:solidFill>
          <a:ln cap="flat" cmpd="sng" w="9525">
            <a:solidFill>
              <a:srgbClr val="553A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02920" y="1554480"/>
            <a:ext cx="54864" cy="868680"/>
          </a:xfrm>
          <a:prstGeom prst="rect">
            <a:avLst/>
          </a:prstGeom>
          <a:solidFill>
            <a:srgbClr val="E8C4A0"/>
          </a:solidFill>
          <a:ln cap="flat" cmpd="sng" w="9525">
            <a:solidFill>
              <a:srgbClr val="E8C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685800" y="1664208"/>
            <a:ext cx="786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BUILT END-TO-END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685800" y="1938528"/>
            <a:ext cx="786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ABO ingest → CLIP embeddings → FAISS index → GPT-4o re-rank → FastAPI + Streamlit, plus a 3-config ablation eval.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02945" y="2899470"/>
            <a:ext cx="8229600" cy="868800"/>
          </a:xfrm>
          <a:prstGeom prst="rect">
            <a:avLst/>
          </a:prstGeom>
          <a:solidFill>
            <a:srgbClr val="3D281A"/>
          </a:solidFill>
          <a:ln cap="flat" cmpd="sng" w="9525">
            <a:solidFill>
              <a:srgbClr val="553A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02945" y="2899470"/>
            <a:ext cx="54900" cy="868800"/>
          </a:xfrm>
          <a:prstGeom prst="rect">
            <a:avLst/>
          </a:prstGeom>
          <a:solidFill>
            <a:srgbClr val="E8C4A0"/>
          </a:solidFill>
          <a:ln cap="flat" cmpd="sng" w="9525">
            <a:solidFill>
              <a:srgbClr val="E8C4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685825" y="3009198"/>
            <a:ext cx="7863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685825" y="3283518"/>
            <a:ext cx="786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pproximate-NN index for 10⁶+ catalogs · cross-category + multilingual queries · cheaper re-ranker (GPT-4o-mini, BLIP-2).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502920" y="4526280"/>
            <a:ext cx="822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r>
              <a:rPr i="1" lang="en-US" sz="1800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1" lang="en-US" sz="18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1800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1" lang="en-US" sz="1800" u="none" cap="none" strike="noStrike">
                <a:solidFill>
                  <a:srgbClr val="E8C4A0"/>
                </a:solidFill>
                <a:latin typeface="Calibri"/>
                <a:ea typeface="Calibri"/>
                <a:cs typeface="Calibri"/>
                <a:sym typeface="Calibri"/>
              </a:rPr>
              <a:t>uestions?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